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C4A7"/>
                </a:solidFill>
                <a:latin typeface="Calibri"/>
              </a:rPr>
              <a:t>INTELLENS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4F7F5"/>
                </a:solidFill>
                <a:latin typeface="Georgia"/>
              </a:rPr>
              <a:t>A credit score for
management guidance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4F7F5"/>
                </a:solidFill>
                <a:latin typeface="Georgia"/>
              </a:rPr>
              <a:t>India-first Guidance Credibility Index for institutional desks.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AADA4"/>
                </a:solidFill>
                <a:latin typeface="Calibri"/>
              </a:rPr>
              <a:t>Seed pitch  ·  Product live (Sensex workbench + API)  ·  Built capital-efficiently with Cursor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ADA4"/>
                </a:solidFill>
                <a:latin typeface="Calibri"/>
              </a:rPr>
              <a:t>Confidential · Illustrative  |  Not investment advice. GCI is factual delivery — no Buy/Hold/Sell.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C4A7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4F7F5"/>
                </a:solidFill>
                <a:latin typeface="Georgia"/>
              </a:rPr>
              <a:t>Analysts remember guidance. Markets punish missed promises.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3474720" cy="3291840"/>
          </a:xfrm>
          <a:prstGeom prst="roundRect">
            <a:avLst>
              <a:gd name="adj" fmla="val 8000"/>
            </a:avLst>
          </a:prstGeom>
          <a:solidFill>
            <a:srgbClr val="1A2C25"/>
          </a:solidFill>
          <a:ln>
            <a:solidFill>
              <a:srgbClr val="2D4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4A7"/>
                </a:solidFill>
                <a:latin typeface="Calibri"/>
              </a:rPr>
              <a:t>Anecdotal memory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23160"/>
            <a:ext cx="3108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9AADA4"/>
                </a:solidFill>
                <a:latin typeface="Calibri"/>
              </a:rPr>
              <a:t>Buy- and sell-side track “management always guides high” in notebooks and Slack — not in a longitudinal, auditable score.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920240"/>
            <a:ext cx="3474720" cy="3291840"/>
          </a:xfrm>
          <a:prstGeom prst="roundRect">
            <a:avLst>
              <a:gd name="adj" fmla="val 8000"/>
            </a:avLst>
          </a:prstGeom>
          <a:solidFill>
            <a:srgbClr val="1A2C25"/>
          </a:solidFill>
          <a:ln>
            <a:solidFill>
              <a:srgbClr val="2D4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2057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4A7"/>
                </a:solidFill>
                <a:latin typeface="Calibri"/>
              </a:rPr>
              <a:t>Wrong category in India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423160"/>
            <a:ext cx="3108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9AADA4"/>
                </a:solidFill>
                <a:latin typeface="Calibri"/>
              </a:rPr>
              <a:t>Local tools score sentiment, ratios, and estimates. They stop before: did they deliver on what they said?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920240"/>
            <a:ext cx="3474720" cy="3291840"/>
          </a:xfrm>
          <a:prstGeom prst="roundRect">
            <a:avLst>
              <a:gd name="adj" fmla="val 8000"/>
            </a:avLst>
          </a:prstGeom>
          <a:solidFill>
            <a:srgbClr val="1A2C25"/>
          </a:solidFill>
          <a:ln>
            <a:solidFill>
              <a:srgbClr val="2D4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2057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4A7"/>
                </a:solidFill>
                <a:latin typeface="Calibri"/>
              </a:rPr>
              <a:t>Global trackers miss India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2423160"/>
            <a:ext cx="3108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9AADA4"/>
                </a:solidFill>
                <a:latin typeface="Calibri"/>
              </a:rPr>
              <a:t>Marvin Labs / FinCatch prove the category on US/SEC workflows. NSE/BSE formats and mixed-language concalls need a local spine.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C4A7"/>
                </a:solidFill>
                <a:latin typeface="Calibri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4F7F5"/>
                </a:solidFill>
                <a:latin typeface="Georgia"/>
              </a:rPr>
              <a:t>Guidance Credibility Index (GCI)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AADA4"/>
                </a:solidFill>
                <a:latin typeface="Calibri"/>
              </a:rPr>
              <a:t>Extract quantified promises → match to actuals → score 0–100 with a full evidence trail.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11680"/>
            <a:ext cx="2743200" cy="3200400"/>
          </a:xfrm>
          <a:prstGeom prst="roundRect">
            <a:avLst>
              <a:gd name="adj" fmla="val 8000"/>
            </a:avLst>
          </a:prstGeom>
          <a:solidFill>
            <a:srgbClr val="1A2C25"/>
          </a:solidFill>
          <a:ln>
            <a:solidFill>
              <a:srgbClr val="2D4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C4A7"/>
                </a:solidFill>
                <a:latin typeface="Calibri"/>
              </a:rPr>
              <a:t>01  Extract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1460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9AADA4"/>
                </a:solidFill>
                <a:latin typeface="Calibri"/>
              </a:rPr>
              <a:t>Metric, band, period, speaker from filings &amp; concalls.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011680"/>
            <a:ext cx="2743200" cy="3200400"/>
          </a:xfrm>
          <a:prstGeom prst="roundRect">
            <a:avLst>
              <a:gd name="adj" fmla="val 8000"/>
            </a:avLst>
          </a:prstGeom>
          <a:solidFill>
            <a:srgbClr val="1A2C25"/>
          </a:solidFill>
          <a:ln>
            <a:solidFill>
              <a:srgbClr val="2D4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1488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C4A7"/>
                </a:solidFill>
                <a:latin typeface="Calibri"/>
              </a:rPr>
              <a:t>02  Match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51460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9AADA4"/>
                </a:solidFill>
                <a:latin typeface="Calibri"/>
              </a:rPr>
              <a:t>Link each statement to subsequent reported actuals.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011680"/>
            <a:ext cx="2743200" cy="3200400"/>
          </a:xfrm>
          <a:prstGeom prst="roundRect">
            <a:avLst>
              <a:gd name="adj" fmla="val 8000"/>
            </a:avLst>
          </a:prstGeom>
          <a:solidFill>
            <a:srgbClr val="1A2C25"/>
          </a:solidFill>
          <a:ln>
            <a:solidFill>
              <a:srgbClr val="2D4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1488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C4A7"/>
                </a:solidFill>
                <a:latin typeface="Calibri"/>
              </a:rPr>
              <a:t>03 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51460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9AADA4"/>
                </a:solidFill>
                <a:latin typeface="Calibri"/>
              </a:rPr>
              <a:t>Met / exceeded / missed / dropped / pending → company GCI.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2011680"/>
            <a:ext cx="2743200" cy="3200400"/>
          </a:xfrm>
          <a:prstGeom prst="roundRect">
            <a:avLst>
              <a:gd name="adj" fmla="val 8000"/>
            </a:avLst>
          </a:prstGeom>
          <a:solidFill>
            <a:srgbClr val="1A2C25"/>
          </a:solidFill>
          <a:ln>
            <a:solidFill>
              <a:srgbClr val="2D4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21488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C4A7"/>
                </a:solidFill>
                <a:latin typeface="Calibri"/>
              </a:rPr>
              <a:t>04  Compound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51460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9AADA4"/>
                </a:solidFill>
                <a:latin typeface="Calibri"/>
              </a:rPr>
              <a:t>Analyst Accept / Edit / Reject grows the labeled corpus.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126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ADA4"/>
                </a:solidFill>
                <a:latin typeface="Calibri"/>
              </a:rPr>
              <a:t>Every score point traces to guidance statement + actual (date, metric, source).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C4A7"/>
                </a:solidFill>
                <a:latin typeface="Calibri"/>
              </a:rPr>
              <a:t>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4F7F5"/>
                </a:solidFill>
                <a:latin typeface="Georgia"/>
              </a:rPr>
              <a:t>Proven category abroad. Whitespace in India.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4F7F5"/>
                </a:solidFill>
                <a:latin typeface="Calibri"/>
              </a:rPr>
              <a:t>Stage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554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4F7F5"/>
                </a:solidFill>
                <a:latin typeface="Calibri"/>
              </a:rPr>
              <a:t>Global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1554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4F7F5"/>
                </a:solidFill>
                <a:latin typeface="Calibri"/>
              </a:rPr>
              <a:t>India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385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DA4"/>
                </a:solidFill>
                <a:latin typeface="Calibri"/>
              </a:rPr>
              <a:t>Filings / alt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9385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DA4"/>
                </a:solidFill>
                <a:latin typeface="Calibri"/>
              </a:rPr>
              <a:t>Many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19385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DA4"/>
                </a:solidFill>
                <a:latin typeface="Calibri"/>
              </a:rPr>
              <a:t>Tijori, Screener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2257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DA4"/>
                </a:solidFill>
                <a:latin typeface="Calibri"/>
              </a:rPr>
              <a:t>Sentiment / AI notes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32257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DA4"/>
                </a:solidFill>
                <a:latin typeface="Calibri"/>
              </a:rPr>
              <a:t>AlphaSense, Marvin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232257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DA4"/>
                </a:solidFill>
                <a:latin typeface="Calibri"/>
              </a:rPr>
              <a:t>Trendlyne, Wordmap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70662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4F7F5"/>
                </a:solidFill>
                <a:latin typeface="Calibri"/>
              </a:rPr>
              <a:t>Guidance extract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70662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DA4"/>
                </a:solidFill>
                <a:latin typeface="Calibri"/>
              </a:rPr>
              <a:t>Marvin, FinCatch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270662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4A7"/>
                </a:solidFill>
                <a:latin typeface="Calibri"/>
              </a:rPr>
              <a:t>Whitespace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0906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4F7F5"/>
                </a:solidFill>
                <a:latin typeface="Calibri"/>
              </a:rPr>
              <a:t>Match vs actuals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0906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DA4"/>
                </a:solidFill>
                <a:latin typeface="Calibri"/>
              </a:rPr>
              <a:t>Marvin, FinCatch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30906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4A7"/>
                </a:solidFill>
                <a:latin typeface="Calibri"/>
              </a:rPr>
              <a:t>Whitespace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474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4F7F5"/>
                </a:solidFill>
                <a:latin typeface="Calibri"/>
              </a:rPr>
              <a:t>Credibility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3474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DA4"/>
                </a:solidFill>
                <a:latin typeface="Calibri"/>
              </a:rPr>
              <a:t>Marvin (US)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3474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4A7"/>
                </a:solidFill>
                <a:latin typeface="Calibri"/>
              </a:rPr>
              <a:t>IntelLens target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206240"/>
            <a:ext cx="11155680" cy="2011680"/>
          </a:xfrm>
          <a:prstGeom prst="roundRect">
            <a:avLst>
              <a:gd name="adj" fmla="val 8000"/>
            </a:avLst>
          </a:prstGeom>
          <a:solidFill>
            <a:srgbClr val="1A2C25"/>
          </a:solidFill>
          <a:ln>
            <a:solidFill>
              <a:srgbClr val="2D4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3434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4A7"/>
                </a:solidFill>
                <a:latin typeface="Calibri"/>
              </a:rPr>
              <a:t>Market backdrop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70916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9AADA4"/>
                </a:solidFill>
                <a:latin typeface="Calibri"/>
              </a:rPr>
              <a:t>• Global alt-data ~$5–19B  |  India alt-data ~$290M → multi-billion path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9AADA4"/>
                </a:solidFill>
                <a:latin typeface="Calibri"/>
              </a:rPr>
              <a:t>• Tijori raised ~$9.3M Series A — India research infra is fundable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9AADA4"/>
                </a:solidFill>
                <a:latin typeface="Calibri"/>
              </a:rPr>
              <a:t>• Desks want primary-source accountability, not another retail screen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C4A7"/>
                </a:solidFill>
                <a:latin typeface="Calibri"/>
              </a:rPr>
              <a:t>PRODUCT (SHIPPED)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4F7F5"/>
                </a:solidFill>
                <a:latin typeface="Georgia"/>
              </a:rPr>
              <a:t>Analyst workbench + API — not a dashboard toy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1A2C25"/>
          </a:solidFill>
          <a:ln>
            <a:solidFill>
              <a:srgbClr val="2D4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4A7"/>
                </a:solidFill>
                <a:latin typeface="Calibri"/>
              </a:rPr>
              <a:t>Guidance Tracker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9AADA4"/>
                </a:solidFill>
                <a:latin typeface="Calibri"/>
              </a:rPr>
              <a:t>• Sensex-30 deep GCI + peer / sector ranks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9AADA4"/>
                </a:solidFill>
                <a:latin typeface="Calibri"/>
              </a:rPr>
              <a:t>• Evidence trail with sources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9AADA4"/>
                </a:solidFill>
                <a:latin typeface="Calibri"/>
              </a:rPr>
              <a:t>• Promise Threads (restatement history)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9AADA4"/>
                </a:solidFill>
                <a:latin typeface="Calibri"/>
              </a:rPr>
              <a:t>• Sector credibility leaderboard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9AADA4"/>
                </a:solidFill>
                <a:latin typeface="Calibri"/>
              </a:rPr>
              <a:t>• Credibility-drift &amp; stale-thread alerts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1A2C25"/>
          </a:solidFill>
          <a:ln>
            <a:solidFill>
              <a:srgbClr val="2D4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4A7"/>
                </a:solidFill>
                <a:latin typeface="Calibri"/>
              </a:rPr>
              <a:t>Desk · Research ·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5740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9AADA4"/>
                </a:solidFill>
                <a:latin typeface="Calibri"/>
              </a:rPr>
              <a:t>• Review queue: ingest → extract → accept/edit/reject → commit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9AADA4"/>
                </a:solidFill>
                <a:latin typeface="Calibri"/>
              </a:rPr>
              <a:t>• PIT history, AlphaHunter import, vernacular blurbs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9AADA4"/>
                </a:solidFill>
                <a:latin typeface="Calibri"/>
              </a:rPr>
              <a:t>• Cite-only research chat + pre-earnings promise brief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9AADA4"/>
                </a:solidFill>
                <a:latin typeface="Calibri"/>
              </a:rPr>
              <a:t>• REST API, org seats, EM-factor export shape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9AADA4"/>
                </a:solidFill>
                <a:latin typeface="Calibri"/>
              </a:rPr>
              <a:t>• 12-market scaffold; GCI depth India-first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DA4"/>
                </a:solidFill>
                <a:latin typeface="Calibri"/>
              </a:rPr>
              <a:t>Live on AWS Fargate  ·  Docker Compose local  ·  Jenkins CI pipeline ready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C4A7"/>
                </a:solidFill>
                <a:latin typeface="Calibri"/>
              </a:rPr>
              <a:t>MOAT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4F7F5"/>
                </a:solidFill>
                <a:latin typeface="Georgia"/>
              </a:rPr>
              <a:t>Compounding India-labeled guidance outcomes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3474720" cy="3474720"/>
          </a:xfrm>
          <a:prstGeom prst="roundRect">
            <a:avLst>
              <a:gd name="adj" fmla="val 8000"/>
            </a:avLst>
          </a:prstGeom>
          <a:solidFill>
            <a:srgbClr val="1A2C25"/>
          </a:solidFill>
          <a:ln>
            <a:solidFill>
              <a:srgbClr val="2D4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74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4A7"/>
                </a:solidFill>
                <a:latin typeface="Calibri"/>
              </a:rPr>
              <a:t>Labeled history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31089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9AADA4"/>
                </a:solidFill>
                <a:latin typeface="Calibri"/>
              </a:rPr>
              <a:t>Hand-labeled Sensex cohort + analyst corrections become the scarce asset — hard to recreate from a generic LLM alone.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737360"/>
            <a:ext cx="3474720" cy="3474720"/>
          </a:xfrm>
          <a:prstGeom prst="roundRect">
            <a:avLst>
              <a:gd name="adj" fmla="val 8000"/>
            </a:avLst>
          </a:prstGeom>
          <a:solidFill>
            <a:srgbClr val="1A2C25"/>
          </a:solidFill>
          <a:ln>
            <a:solidFill>
              <a:srgbClr val="2D4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874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4A7"/>
                </a:solidFill>
                <a:latin typeface="Calibri"/>
              </a:rPr>
              <a:t>Workflow lock-in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240280"/>
            <a:ext cx="31089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9AADA4"/>
                </a:solidFill>
                <a:latin typeface="Calibri"/>
              </a:rPr>
              <a:t>Weekly desk habit: alerts → evidence cite in notes → review queue. Moat is usage + corpus, not UI chrome.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737360"/>
            <a:ext cx="3474720" cy="3474720"/>
          </a:xfrm>
          <a:prstGeom prst="roundRect">
            <a:avLst>
              <a:gd name="adj" fmla="val 8000"/>
            </a:avLst>
          </a:prstGeom>
          <a:solidFill>
            <a:srgbClr val="1A2C25"/>
          </a:solidFill>
          <a:ln>
            <a:solidFill>
              <a:srgbClr val="2D4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874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4A7"/>
                </a:solidFill>
                <a:latin typeface="Calibri"/>
              </a:rPr>
              <a:t>India-native formats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2240280"/>
            <a:ext cx="31089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9AADA4"/>
                </a:solidFill>
                <a:latin typeface="Calibri"/>
              </a:rPr>
              <a:t>NSE/BSE IR tables, mixed-language concalls, Sensex→Nifty expansion — category leaders are US-first.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4F7F5"/>
                </a:solidFill>
                <a:latin typeface="Calibri"/>
              </a:rPr>
              <a:t>Pitch correctly: India-localized guidance tracking — not “world’s first.”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C4A7"/>
                </a:solidFill>
                <a:latin typeface="Calibri"/>
              </a:rPr>
              <a:t>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4F7F5"/>
                </a:solidFill>
                <a:latin typeface="Georgia"/>
              </a:rPr>
              <a:t>Don’t fight sentiment. Own accountability.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4F7F5"/>
                </a:solidFill>
                <a:latin typeface="Calibri"/>
              </a:rPr>
              <a:t>Player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59" y="1417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4F7F5"/>
                </a:solidFill>
                <a:latin typeface="Calibri"/>
              </a:rPr>
              <a:t>What they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1417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4F7F5"/>
                </a:solidFill>
                <a:latin typeface="Calibri"/>
              </a:rPr>
              <a:t>vs IntelLens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F7F5"/>
                </a:solidFill>
                <a:latin typeface="Calibri"/>
              </a:rPr>
              <a:t>Marvin / FinCatch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59" y="18288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DA4"/>
                </a:solidFill>
                <a:latin typeface="Calibri"/>
              </a:rPr>
              <a:t>Full guidance tracking (US/global)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18288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DA4"/>
                </a:solidFill>
                <a:latin typeface="Calibri"/>
              </a:rPr>
              <a:t>Category proof — weak on India disclosure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4688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F7F5"/>
                </a:solidFill>
                <a:latin typeface="Calibri"/>
              </a:rPr>
              <a:t>Tijori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59" y="24688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DA4"/>
                </a:solidFill>
                <a:latin typeface="Calibri"/>
              </a:rPr>
              <a:t>Filings alt-metrics; funded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4688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DA4"/>
                </a:solidFill>
                <a:latin typeface="Calibri"/>
              </a:rPr>
              <a:t>Evidence spine, not GCI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1089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F7F5"/>
                </a:solidFill>
                <a:latin typeface="Calibri"/>
              </a:rPr>
              <a:t>AlphaSense / Bloomberg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59" y="31089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DA4"/>
                </a:solidFill>
                <a:latin typeface="Calibri"/>
              </a:rPr>
              <a:t>Search, estimates, terminal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31089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DA4"/>
                </a:solidFill>
                <a:latin typeface="Calibri"/>
              </a:rPr>
              <a:t>Complements; not management credibility index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7490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F7F5"/>
                </a:solidFill>
                <a:latin typeface="Calibri"/>
              </a:rPr>
              <a:t>Trendlyne / Screener / 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59" y="37490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DA4"/>
                </a:solidFill>
                <a:latin typeface="Calibri"/>
              </a:rPr>
              <a:t>Sentiment, fundamentals, screens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37490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DA4"/>
                </a:solidFill>
                <a:latin typeface="Calibri"/>
              </a:rPr>
              <a:t>Crowded; we refuse that red ocean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572000"/>
            <a:ext cx="5486400" cy="1645920"/>
          </a:xfrm>
          <a:prstGeom prst="roundRect">
            <a:avLst>
              <a:gd name="adj" fmla="val 8000"/>
            </a:avLst>
          </a:prstGeom>
          <a:solidFill>
            <a:srgbClr val="1A2C25"/>
          </a:solidFill>
          <a:ln>
            <a:solidFill>
              <a:srgbClr val="2D4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709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4A7"/>
                </a:solidFill>
                <a:latin typeface="Calibri"/>
              </a:rPr>
              <a:t>We ship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07492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9AADA4"/>
                </a:solidFill>
                <a:latin typeface="Calibri"/>
              </a:rPr>
              <a:t>Factual GCI, evidence, threads, review loop, API.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572000"/>
            <a:ext cx="5486400" cy="1645920"/>
          </a:xfrm>
          <a:prstGeom prst="roundRect">
            <a:avLst>
              <a:gd name="adj" fmla="val 8000"/>
            </a:avLst>
          </a:prstGeom>
          <a:solidFill>
            <a:srgbClr val="1A2C25"/>
          </a:solidFill>
          <a:ln>
            <a:solidFill>
              <a:srgbClr val="2D4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709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4A7"/>
                </a:solidFill>
                <a:latin typeface="Calibri"/>
              </a:rPr>
              <a:t>We refuse (MVP)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07492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9AADA4"/>
                </a:solidFill>
                <a:latin typeface="Calibri"/>
              </a:rPr>
              <a:t>Buy/Hold/Sell, retail trading app, standalone “trust badge” as the product.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C4A7"/>
                </a:solidFill>
                <a:latin typeface="Calibri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4F7F5"/>
                </a:solidFill>
                <a:latin typeface="Georgia"/>
              </a:rPr>
              <a:t>Seats now. Data licenses next. Badge later.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4F7F5"/>
                </a:solidFill>
                <a:latin typeface="Calibri"/>
              </a:rPr>
              <a:t>Stream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463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4F7F5"/>
                </a:solidFill>
                <a:latin typeface="Calibri"/>
              </a:rPr>
              <a:t>Illustrative price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4F7F5"/>
                </a:solidFill>
                <a:latin typeface="Calibri"/>
              </a:rPr>
              <a:t>Pilot (30–60d)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828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EC4A7"/>
                </a:solidFill>
                <a:latin typeface="Calibri"/>
              </a:rPr>
              <a:t>Complimentary → convert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40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4F7F5"/>
                </a:solidFill>
                <a:latin typeface="Calibri"/>
              </a:rPr>
              <a:t>Desk SaaS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240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EC4A7"/>
                </a:solidFill>
                <a:latin typeface="Calibri"/>
              </a:rPr>
              <a:t>₹45k / seat /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51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4F7F5"/>
                </a:solidFill>
                <a:latin typeface="Calibri"/>
              </a:rPr>
              <a:t>Enterprise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651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EC4A7"/>
                </a:solidFill>
                <a:latin typeface="Calibri"/>
              </a:rPr>
              <a:t>₹25–80L / year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063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4F7F5"/>
                </a:solidFill>
                <a:latin typeface="Calibri"/>
              </a:rPr>
              <a:t>One-Stop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063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EC4A7"/>
                </a:solidFill>
                <a:latin typeface="Calibri"/>
              </a:rPr>
              <a:t>₹40L–1.2Cr /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474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4F7F5"/>
                </a:solidFill>
                <a:latin typeface="Calibri"/>
              </a:rPr>
              <a:t>Broker Trust Badge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474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EC4A7"/>
                </a:solidFill>
                <a:latin typeface="Calibri"/>
              </a:rPr>
              <a:t>Year 2 white-label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114800"/>
            <a:ext cx="11155680" cy="2103120"/>
          </a:xfrm>
          <a:prstGeom prst="roundRect">
            <a:avLst>
              <a:gd name="adj" fmla="val 8000"/>
            </a:avLst>
          </a:prstGeom>
          <a:solidFill>
            <a:srgbClr val="1A2C25"/>
          </a:solidFill>
          <a:ln>
            <a:solidFill>
              <a:srgbClr val="2D4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2519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4A7"/>
                </a:solidFill>
                <a:latin typeface="Calibri"/>
              </a:rPr>
              <a:t>Year-1 sketch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61772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9AADA4"/>
                </a:solidFill>
                <a:latin typeface="Calibri"/>
              </a:rPr>
              <a:t>• 15–20 pilot analysts → 30–40% convert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9AADA4"/>
                </a:solidFill>
                <a:latin typeface="Calibri"/>
              </a:rPr>
              <a:t>• 1–2 institutional API contracts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9AADA4"/>
                </a:solidFill>
                <a:latin typeface="Calibri"/>
              </a:rPr>
              <a:t>• Cost focus: labeling + NLP review, not ads  |  Capex-light: public IR / transcripts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9AADA4"/>
                </a:solidFill>
                <a:latin typeface="Calibri"/>
              </a:rPr>
              <a:t>Pricing excludes GST · illustrative for fundraising narrative.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C4A7"/>
                </a:solidFill>
                <a:latin typeface="Calibri"/>
              </a:rPr>
              <a:t>GO-TO-MARKET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4F7F5"/>
                </a:solidFill>
                <a:latin typeface="Georgia"/>
              </a:rPr>
              <a:t>India institutional beachhead → EM API export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2743200" cy="3291840"/>
          </a:xfrm>
          <a:prstGeom prst="roundRect">
            <a:avLst>
              <a:gd name="adj" fmla="val 8000"/>
            </a:avLst>
          </a:prstGeom>
          <a:solidFill>
            <a:srgbClr val="1A2C25"/>
          </a:solidFill>
          <a:ln>
            <a:solidFill>
              <a:srgbClr val="2D4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C4A7"/>
                </a:solidFill>
                <a:latin typeface="Calibri"/>
              </a:rPr>
              <a:t>0–1  Sensex depth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2377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9AADA4"/>
                </a:solidFill>
                <a:latin typeface="Calibri"/>
              </a:rPr>
              <a:t>Hand-label quality → extraction automation.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645920"/>
            <a:ext cx="2743200" cy="3291840"/>
          </a:xfrm>
          <a:prstGeom prst="roundRect">
            <a:avLst>
              <a:gd name="adj" fmla="val 8000"/>
            </a:avLst>
          </a:prstGeom>
          <a:solidFill>
            <a:srgbClr val="1A2C25"/>
          </a:solidFill>
          <a:ln>
            <a:solidFill>
              <a:srgbClr val="2D4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783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C4A7"/>
                </a:solidFill>
                <a:latin typeface="Calibri"/>
              </a:rPr>
              <a:t>2  Pilot desks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148840"/>
            <a:ext cx="2377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9AADA4"/>
                </a:solidFill>
                <a:latin typeface="Calibri"/>
              </a:rPr>
              <a:t>15–20 analysts; prove weekly habit + cite in notes.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45920"/>
            <a:ext cx="2743200" cy="3291840"/>
          </a:xfrm>
          <a:prstGeom prst="roundRect">
            <a:avLst>
              <a:gd name="adj" fmla="val 8000"/>
            </a:avLst>
          </a:prstGeom>
          <a:solidFill>
            <a:srgbClr val="1A2C25"/>
          </a:solidFill>
          <a:ln>
            <a:solidFill>
              <a:srgbClr val="2D4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783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C4A7"/>
                </a:solidFill>
                <a:latin typeface="Calibri"/>
              </a:rPr>
              <a:t>3  Paid +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48840"/>
            <a:ext cx="2377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9AADA4"/>
                </a:solidFill>
                <a:latin typeface="Calibri"/>
              </a:rPr>
              <a:t>Desk seats + 1–2 data licenses.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645920"/>
            <a:ext cx="2743200" cy="3291840"/>
          </a:xfrm>
          <a:prstGeom prst="roundRect">
            <a:avLst>
              <a:gd name="adj" fmla="val 8000"/>
            </a:avLst>
          </a:prstGeom>
          <a:solidFill>
            <a:srgbClr val="1A2C25"/>
          </a:solidFill>
          <a:ln>
            <a:solidFill>
              <a:srgbClr val="2D4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1783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C4A7"/>
                </a:solidFill>
                <a:latin typeface="Calibri"/>
              </a:rPr>
              <a:t>4  Expand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148840"/>
            <a:ext cx="2377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9AADA4"/>
                </a:solidFill>
                <a:latin typeface="Calibri"/>
              </a:rPr>
              <a:t>Nifty 500, sector benchmarks, London/US 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DA4"/>
                </a:solidFill>
                <a:latin typeface="Calibri"/>
              </a:rPr>
              <a:t>Personas: buy-side / PMS / AIF  ·  sell-side associates  ·  quant / EM factor buyers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C4A7"/>
                </a:solidFill>
                <a:latin typeface="Calibri"/>
              </a:rPr>
              <a:t>TRACTION &amp;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4F7F5"/>
                </a:solidFill>
                <a:latin typeface="Georgia"/>
              </a:rPr>
              <a:t>Product-market-shaped MVP — ready for pilots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3474720" cy="2560320"/>
          </a:xfrm>
          <a:prstGeom prst="roundRect">
            <a:avLst>
              <a:gd name="adj" fmla="val 8000"/>
            </a:avLst>
          </a:prstGeom>
          <a:solidFill>
            <a:srgbClr val="1A2C25"/>
          </a:solidFill>
          <a:ln>
            <a:solidFill>
              <a:srgbClr val="2D4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4A7"/>
                </a:solidFill>
                <a:latin typeface="Calibri"/>
              </a:rPr>
              <a:t>30 Sensex companies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9AADA4"/>
                </a:solidFill>
                <a:latin typeface="Calibri"/>
              </a:rPr>
              <a:t>Hand-labeled path in product store; Infosys on official guidance-vs-actuals table.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554480"/>
            <a:ext cx="3474720" cy="2560320"/>
          </a:xfrm>
          <a:prstGeom prst="roundRect">
            <a:avLst>
              <a:gd name="adj" fmla="val 8000"/>
            </a:avLst>
          </a:prstGeom>
          <a:solidFill>
            <a:srgbClr val="1A2C25"/>
          </a:solidFill>
          <a:ln>
            <a:solidFill>
              <a:srgbClr val="2D4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691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4A7"/>
                </a:solidFill>
                <a:latin typeface="Calibri"/>
              </a:rPr>
              <a:t>88 Research docs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05740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9AADA4"/>
                </a:solidFill>
                <a:latin typeface="Calibri"/>
              </a:rPr>
              <a:t>Cite-only chat corpus; extract → review → commit loop live in Desk.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554480"/>
            <a:ext cx="3474720" cy="2560320"/>
          </a:xfrm>
          <a:prstGeom prst="roundRect">
            <a:avLst>
              <a:gd name="adj" fmla="val 8000"/>
            </a:avLst>
          </a:prstGeom>
          <a:solidFill>
            <a:srgbClr val="1A2C25"/>
          </a:solidFill>
          <a:ln>
            <a:solidFill>
              <a:srgbClr val="2D4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691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4A7"/>
                </a:solidFill>
                <a:latin typeface="Calibri"/>
              </a:rPr>
              <a:t>CI / Ship discipline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205740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9AADA4"/>
                </a:solidFill>
                <a:latin typeface="Calibri"/>
              </a:rPr>
              <a:t>Pytest + Playwright + Docker + Jenkinsfile + AWS Fargate deploy.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389120"/>
            <a:ext cx="11155680" cy="1828800"/>
          </a:xfrm>
          <a:prstGeom prst="roundRect">
            <a:avLst>
              <a:gd name="adj" fmla="val 8000"/>
            </a:avLst>
          </a:prstGeom>
          <a:solidFill>
            <a:srgbClr val="1A2C25"/>
          </a:solidFill>
          <a:ln>
            <a:solidFill>
              <a:srgbClr val="2D4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5262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4A7"/>
                </a:solidFill>
                <a:latin typeface="Calibri"/>
              </a:rPr>
              <a:t>Honest accuracy posture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89204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9AADA4"/>
                </a:solidFill>
                <a:latin typeface="Calibri"/>
              </a:rPr>
              <a:t>Scoring math &amp; APIs: high confidence. Hand-labeled cohort: medium–high (Infosys strongest).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9AADA4"/>
                </a:solidFill>
                <a:latin typeface="Calibri"/>
              </a:rPr>
              <a:t>Extraction: prototype → LLM + human review at scale is the funded workstream.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C4A7"/>
                </a:solidFill>
                <a:latin typeface="Calibri"/>
              </a:rPr>
              <a:t>OPERATING LEVERAGE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4F7F5"/>
                </a:solidFill>
                <a:latin typeface="Georgia"/>
              </a:rPr>
              <a:t>Cursor AI as a force multiplier — not a substitute for domain moat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5486400" cy="3200400"/>
          </a:xfrm>
          <a:prstGeom prst="roundRect">
            <a:avLst>
              <a:gd name="adj" fmla="val 8000"/>
            </a:avLst>
          </a:prstGeom>
          <a:solidFill>
            <a:srgbClr val="1A2C25"/>
          </a:solidFill>
          <a:ln>
            <a:solidFill>
              <a:srgbClr val="2D4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4A7"/>
                </a:solidFill>
                <a:latin typeface="Calibri"/>
              </a:rPr>
              <a:t>What Cursor accelerates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9AADA4"/>
                </a:solidFill>
                <a:latin typeface="Calibri"/>
              </a:rPr>
              <a:t>• Full-stack feature velocity (Tracker, Desk, Research, APIs)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9AADA4"/>
                </a:solidFill>
                <a:latin typeface="Calibri"/>
              </a:rPr>
              <a:t>• Test suites, CI (Jenkins), AWS deploy scripts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9AADA4"/>
                </a:solidFill>
                <a:latin typeface="Calibri"/>
              </a:rPr>
              <a:t>• UI i18n, scaffolding, docs, gap closures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9AADA4"/>
                </a:solidFill>
                <a:latin typeface="Calibri"/>
              </a:rPr>
              <a:t>• Small founding eng footprint with enterprise-grade hygiene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486400" cy="3200400"/>
          </a:xfrm>
          <a:prstGeom prst="roundRect">
            <a:avLst>
              <a:gd name="adj" fmla="val 8000"/>
            </a:avLst>
          </a:prstGeom>
          <a:solidFill>
            <a:srgbClr val="1A2C25"/>
          </a:solidFill>
          <a:ln>
            <a:solidFill>
              <a:srgbClr val="2D4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4A7"/>
                </a:solidFill>
                <a:latin typeface="Calibri"/>
              </a:rPr>
              <a:t>What capital still buys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5740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9AADA4"/>
                </a:solidFill>
                <a:latin typeface="Calibri"/>
              </a:rPr>
              <a:t>• Human labeling &amp; IR domain experts (the moat)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9AADA4"/>
                </a:solidFill>
                <a:latin typeface="Calibri"/>
              </a:rPr>
              <a:t>• Production NLP / LLM extract + review ops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9AADA4"/>
                </a:solidFill>
                <a:latin typeface="Calibri"/>
              </a:rPr>
              <a:t>• Enterprise sales &amp; pilot CSM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9AADA4"/>
                </a:solidFill>
                <a:latin typeface="Calibri"/>
              </a:rPr>
              <a:t>• Compliance counsel (SEBI RA boundary)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937760"/>
            <a:ext cx="11155680" cy="1371600"/>
          </a:xfrm>
          <a:prstGeom prst="roundRect">
            <a:avLst>
              <a:gd name="adj" fmla="val 8000"/>
            </a:avLst>
          </a:prstGeom>
          <a:solidFill>
            <a:srgbClr val="1A2C25"/>
          </a:solidFill>
          <a:ln>
            <a:solidFill>
              <a:srgbClr val="2D4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0749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4A7"/>
                </a:solidFill>
                <a:latin typeface="Calibri"/>
              </a:rPr>
              <a:t>Investor 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4406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9AADA4"/>
                </a:solidFill>
                <a:latin typeface="Calibri"/>
              </a:rPr>
              <a:t>More of every rupee goes into labeled India data + distribution, not a large engineering army to rebuild a workbench that already exists.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C4A7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4F7F5"/>
                </a:solidFill>
                <a:latin typeface="Georgia"/>
              </a:rPr>
              <a:t>Seed round to own India guidance accountability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11155680" cy="1645920"/>
          </a:xfrm>
          <a:prstGeom prst="roundRect">
            <a:avLst>
              <a:gd name="adj" fmla="val 6000"/>
            </a:avLst>
          </a:prstGeom>
          <a:solidFill>
            <a:srgbClr val="0B3D36"/>
          </a:solidFill>
          <a:ln>
            <a:solidFill>
              <a:srgbClr val="2EC4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2EC4A7"/>
                </a:solidFill>
                <a:latin typeface="Georgia"/>
              </a:rPr>
              <a:t>₹3–5 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4F7F5"/>
                </a:solidFill>
                <a:latin typeface="Calibri"/>
              </a:rPr>
              <a:t>Illustrative seed (~$350–600k)  ·  18-month runway to paid seats + first API contracts.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474720"/>
            <a:ext cx="3474720" cy="2286000"/>
          </a:xfrm>
          <a:prstGeom prst="roundRect">
            <a:avLst>
              <a:gd name="adj" fmla="val 8000"/>
            </a:avLst>
          </a:prstGeom>
          <a:solidFill>
            <a:srgbClr val="1A2C25"/>
          </a:solidFill>
          <a:ln>
            <a:solidFill>
              <a:srgbClr val="2D4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611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4A7"/>
                </a:solidFill>
                <a:latin typeface="Calibri"/>
              </a:rPr>
              <a:t>~45% Labeling &amp; NLP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97764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9AADA4"/>
                </a:solidFill>
                <a:latin typeface="Calibri"/>
              </a:rPr>
              <a:t>Sensex depth → Nifty; LLM extract + analyst review at scale.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3474720"/>
            <a:ext cx="3474720" cy="2286000"/>
          </a:xfrm>
          <a:prstGeom prst="roundRect">
            <a:avLst>
              <a:gd name="adj" fmla="val 8000"/>
            </a:avLst>
          </a:prstGeom>
          <a:solidFill>
            <a:srgbClr val="1A2C25"/>
          </a:solidFill>
          <a:ln>
            <a:solidFill>
              <a:srgbClr val="2D4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3611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4A7"/>
                </a:solidFill>
                <a:latin typeface="Calibri"/>
              </a:rPr>
              <a:t>~35% GTM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97764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9AADA4"/>
                </a:solidFill>
                <a:latin typeface="Calibri"/>
              </a:rPr>
              <a:t>Pilot desks, enterprise sales, CSM, conferences.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3474720"/>
            <a:ext cx="3474720" cy="2286000"/>
          </a:xfrm>
          <a:prstGeom prst="roundRect">
            <a:avLst>
              <a:gd name="adj" fmla="val 8000"/>
            </a:avLst>
          </a:prstGeom>
          <a:solidFill>
            <a:srgbClr val="1A2C25"/>
          </a:solidFill>
          <a:ln>
            <a:solidFill>
              <a:srgbClr val="2D4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3611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4A7"/>
                </a:solidFill>
                <a:latin typeface="Calibri"/>
              </a:rPr>
              <a:t>~20% Infra &amp; 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397764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9AADA4"/>
                </a:solidFill>
                <a:latin typeface="Calibri"/>
              </a:rPr>
              <a:t>Cloud, security, SSO, counsel, contingency.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035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ADA4"/>
                </a:solidFill>
                <a:latin typeface="Calibri"/>
              </a:rPr>
              <a:t>Final raise size / instrument (SAFE / equity) TBD with lead · figures are directional.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C4A7"/>
                </a:solidFill>
                <a:latin typeface="Calibri"/>
              </a:rPr>
              <a:t>RISKS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4F7F5"/>
                </a:solidFill>
                <a:latin typeface="Georgia"/>
              </a:rPr>
              <a:t>Known risks — designed mitigations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4F7F5"/>
                </a:solidFill>
                <a:latin typeface="Calibri"/>
              </a:rPr>
              <a:t>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463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4F7F5"/>
                </a:solidFill>
                <a:latin typeface="Calibri"/>
              </a:rPr>
              <a:t>Mitigation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4A7"/>
                </a:solidFill>
                <a:latin typeface="Calibri"/>
              </a:rPr>
              <a:t>Extraction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874519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DA4"/>
                </a:solidFill>
                <a:latin typeface="Calibri"/>
              </a:rPr>
              <a:t>Human review queue; confidence weights; never auto-score pending extracts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603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4A7"/>
                </a:solidFill>
                <a:latin typeface="Calibri"/>
              </a:rPr>
              <a:t>Cold-start credibility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5603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DA4"/>
                </a:solidFill>
                <a:latin typeface="Calibri"/>
              </a:rPr>
              <a:t>Hand-labeled cohort first; honest quality badges (hand_labeled vs scaffold)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461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4A7"/>
                </a:solidFill>
                <a:latin typeface="Calibri"/>
              </a:rPr>
              <a:t>SEBI RA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2461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DA4"/>
                </a:solidFill>
                <a:latin typeface="Calibri"/>
              </a:rPr>
              <a:t>Ship factual GCI only; no retail recommendations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9319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4A7"/>
                </a:solidFill>
                <a:latin typeface="Calibri"/>
              </a:rPr>
              <a:t>Incumbent copy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9319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DA4"/>
                </a:solidFill>
                <a:latin typeface="Calibri"/>
              </a:rPr>
              <a:t>Compound India-specific labeled history + desk habit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617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4A7"/>
                </a:solidFill>
                <a:latin typeface="Calibri"/>
              </a:rPr>
              <a:t>Brand / TM diligence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6177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DA4"/>
                </a:solidFill>
                <a:latin typeface="Calibri"/>
              </a:rPr>
              <a:t>Counsel on mark strategy before wide consumer spend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C4A7"/>
                </a:solidFill>
                <a:latin typeface="Calibri"/>
              </a:rPr>
              <a:t>INTELLENS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4F7F5"/>
                </a:solidFill>
                <a:latin typeface="Georgia"/>
              </a:rPr>
              <a:t>Keep your terminal for prices.
Use IntelLens for delivery.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91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AADA4"/>
                </a:solidFill>
                <a:latin typeface="Calibri"/>
              </a:rPr>
              <a:t>India-first GCI  ·  evidence-linked  ·  API-ready  ·  built lean with Cursor AI  ·  ready for institutional pilots.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114800"/>
            <a:ext cx="5486400" cy="1828800"/>
          </a:xfrm>
          <a:prstGeom prst="roundRect">
            <a:avLst>
              <a:gd name="adj" fmla="val 8000"/>
            </a:avLst>
          </a:prstGeom>
          <a:solidFill>
            <a:srgbClr val="1A2C25"/>
          </a:solidFill>
          <a:ln>
            <a:solidFill>
              <a:srgbClr val="2D4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2519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4A7"/>
                </a:solidFill>
                <a:latin typeface="Calibri"/>
              </a:rPr>
              <a:t>Next step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61772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9AADA4"/>
                </a:solidFill>
                <a:latin typeface="Calibri"/>
              </a:rPr>
              <a:t>Pilot org (5 seats, Sensex) · walkthrough of Promise Threads + Review Queue · data-quality review on hand-labeled cohort.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114800"/>
            <a:ext cx="5486400" cy="1828800"/>
          </a:xfrm>
          <a:prstGeom prst="roundRect">
            <a:avLst>
              <a:gd name="adj" fmla="val 8000"/>
            </a:avLst>
          </a:prstGeom>
          <a:solidFill>
            <a:srgbClr val="1A2C25"/>
          </a:solidFill>
          <a:ln>
            <a:solidFill>
              <a:srgbClr val="2D4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2519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4A7"/>
                </a:solidFill>
                <a:latin typeface="Calibri"/>
              </a:rPr>
              <a:t>Contact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61772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9AADA4"/>
                </a:solidFill>
                <a:latin typeface="Calibri"/>
              </a:rPr>
              <a:t>sales@intellens.example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9AADA4"/>
                </a:solidFill>
                <a:latin typeface="Calibri"/>
              </a:rPr>
              <a:t>Product: Package page in-app  ·  Docs: BUSINESS_PLAN.md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217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DA4"/>
                </a:solidFill>
                <a:latin typeface="Calibri"/>
              </a:rPr>
              <a:t>© IntelLens · This deck is illustrative and confidential. Not an offer to sell securities.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